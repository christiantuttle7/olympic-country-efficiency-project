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DM Sans" panose="020F0502020204030204" pitchFamily="2" charset="0"/>
      <p:regular r:id="rId14"/>
      <p:bold r:id="rId15"/>
      <p:italic r:id="rId16"/>
      <p:boldItalic r:id="rId17"/>
    </p:embeddedFont>
    <p:embeddedFont>
      <p:font typeface="Merriweather" panose="020F0502020204030204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06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77450" y="571500"/>
            <a:ext cx="15430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46065"/>
            <a:ext cx="11049000" cy="298504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95275" y="1407914"/>
            <a:ext cx="116014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Redefining Olympic Success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221377" y="2265705"/>
            <a:ext cx="566351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Machine Learning Final Project (CSCI 425)</a:t>
            </a:r>
            <a:endParaRPr dirty="0"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29850" y="647700"/>
            <a:ext cx="2571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952500" y="3762226"/>
            <a:ext cx="510063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Context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952500" y="4166592"/>
            <a:ext cx="4857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Traditional Olympic medal counts heavily favor wealthy and highly populated nations. Our team noticed this inherent bias in global rankings.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381750" y="3427065"/>
            <a:ext cx="510063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Environment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381750" y="3831431"/>
            <a:ext cx="4857750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set out to look beyond raw numbers and redefine athletic success through the lens of 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"Olympic Efficiency"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—evaluating performance relative to economic and demographic constraints.</a:t>
            </a:r>
            <a:endParaRPr dirty="0"/>
          </a:p>
        </p:txBody>
      </p:sp>
      <p:pic>
        <p:nvPicPr>
          <p:cNvPr id="96" name="Google Shape;96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3796" y="3797796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91262" y="3475916"/>
            <a:ext cx="180975" cy="1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44175" y="571500"/>
            <a:ext cx="10763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33650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115252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Challenges &amp; Objectives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170497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96575" y="647700"/>
            <a:ext cx="2571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571500" y="2215157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My Specific Challenge: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Build the foundation for our analysis by acquiring and preparing a noise-free, unified dataset.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685800" y="341209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62000" y="3411140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 Acquisition: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Source historical sports data and merge it with global economic metrics.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85800" y="422529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62000" y="4224337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Handling Missing Data: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Resolve historical gaps in global GDP records (1896-2024).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85800" y="5038486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62000" y="5037534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Feature Engineering: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Create variables that models can actually learn from, controlling for extreme outliers.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15575" y="571500"/>
            <a:ext cx="13049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35460"/>
            <a:ext cx="3492400" cy="3640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650" y="2735460"/>
            <a:ext cx="3492549" cy="3640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735460"/>
            <a:ext cx="3492400" cy="364078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71500" y="115252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Engineering Pipeline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1500" y="170497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211455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 solve the data challenge, I implemented a three-step preprocessing pipeline:</a:t>
            </a:r>
            <a:endParaRPr/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67975" y="647700"/>
            <a:ext cx="2667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884239" y="3849885"/>
            <a:ext cx="2866920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Merging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52500" y="4206626"/>
            <a:ext cx="27304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Downloaded 120 years of Athlete Events from Kaggle and merged it with World Bank GDP/Population time-series data.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4662387" y="3849885"/>
            <a:ext cx="286707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Cleaning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4730650" y="4206626"/>
            <a:ext cx="27305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Handled missing historical values using regional back-filling to maintain temporal consistency across epochs.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440690" y="3849885"/>
            <a:ext cx="2866920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Normalization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508950" y="4206626"/>
            <a:ext cx="2730400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Applied Log-Scale transformations to GDP/Population to handle outliers (USA, China) and built binary indicators for Host Nation Advantage.</a:t>
            </a:r>
            <a:endParaRPr/>
          </a:p>
        </p:txBody>
      </p:sp>
      <p:pic>
        <p:nvPicPr>
          <p:cNvPr id="139" name="Google Shape;13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03387" y="321171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81538" y="321171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36025" y="3211710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63200" y="571500"/>
            <a:ext cx="12573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571500" y="115252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 Unified, Normalized Dataset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71500" y="170497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15600" y="647700"/>
            <a:ext cx="2571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952500" y="2885033"/>
            <a:ext cx="470058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Specs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381750" y="3458616"/>
            <a:ext cx="52387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As a result, we successfully engineered a robust foundation. By scaling disparate data types correctly, we removed the noise that would have otherwise confused our predictive models.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52500" y="3289399"/>
            <a:ext cx="44767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Scope: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200+ Nations</a:t>
            </a:r>
            <a:endParaRPr dirty="0"/>
          </a:p>
        </p:txBody>
      </p:sp>
      <p:sp>
        <p:nvSpPr>
          <p:cNvPr id="157" name="Google Shape;157;p16"/>
          <p:cNvSpPr/>
          <p:nvPr/>
        </p:nvSpPr>
        <p:spPr>
          <a:xfrm>
            <a:off x="952500" y="3719810"/>
            <a:ext cx="4476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952500" y="3872210"/>
            <a:ext cx="44767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Timeline: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1896 - 2024</a:t>
            </a:r>
            <a:endParaRPr dirty="0"/>
          </a:p>
        </p:txBody>
      </p:sp>
      <p:sp>
        <p:nvSpPr>
          <p:cNvPr id="159" name="Google Shape;159;p16"/>
          <p:cNvSpPr/>
          <p:nvPr/>
        </p:nvSpPr>
        <p:spPr>
          <a:xfrm>
            <a:off x="952500" y="4302621"/>
            <a:ext cx="4476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913796" y="4426446"/>
            <a:ext cx="44767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Missing Values: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Reduced to 0%</a:t>
            </a:r>
            <a:endParaRPr dirty="0"/>
          </a:p>
        </p:txBody>
      </p:sp>
      <p:sp>
        <p:nvSpPr>
          <p:cNvPr id="161" name="Google Shape;161;p16"/>
          <p:cNvSpPr/>
          <p:nvPr/>
        </p:nvSpPr>
        <p:spPr>
          <a:xfrm>
            <a:off x="952500" y="4885432"/>
            <a:ext cx="4476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952500" y="5037832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Output Target: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Total Medal Count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952500" y="3719810"/>
            <a:ext cx="4476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952500" y="4302621"/>
            <a:ext cx="4476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952500" y="4885432"/>
            <a:ext cx="4476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341786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92459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507408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5090219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6975" y="571500"/>
            <a:ext cx="15335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538412"/>
            <a:ext cx="85725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39375" y="647700"/>
            <a:ext cx="2571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2000250" y="2443162"/>
            <a:ext cx="2190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1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77450" y="571500"/>
            <a:ext cx="15430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33650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571500" y="115252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Wealth-Success Correlation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500" y="170497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29850" y="647700"/>
            <a:ext cx="2571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571500" y="2533650"/>
            <a:ext cx="523875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With a clean dataset in place, we were in an environment where we could clearly see the strong baseline correlation between a nation's wealth and its athletic success.</a:t>
            </a:r>
          </a:p>
        </p:txBody>
      </p:sp>
      <p:sp>
        <p:nvSpPr>
          <p:cNvPr id="194" name="Google Shape;194;p18"/>
          <p:cNvSpPr txBox="1"/>
          <p:nvPr/>
        </p:nvSpPr>
        <p:spPr>
          <a:xfrm>
            <a:off x="571500" y="4368105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Wealthier nations heavily skew the absolute medal counts, making it impossible to evaluate true athletic "efficiency" with traditional leaderboards.</a:t>
            </a:r>
            <a:endParaRPr dirty="0"/>
          </a:p>
        </p:txBody>
      </p:sp>
      <p:pic>
        <p:nvPicPr>
          <p:cNvPr id="195" name="Google Shape;19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2533650"/>
            <a:ext cx="52387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44175" y="571500"/>
            <a:ext cx="10763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45073"/>
            <a:ext cx="110490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97623"/>
            <a:ext cx="11049000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571500" y="115252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Defining the Efficiency Metric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71500" y="170497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571500" y="2441376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My Challenge: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Design, train, and evaluate an ML pipeline to predict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expected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medals based on resources. Then, isolate the outliers to calculate our custom Efficiency Score.</a:t>
            </a:r>
            <a:endParaRPr/>
          </a:p>
        </p:txBody>
      </p:sp>
      <p:pic>
        <p:nvPicPr>
          <p:cNvPr id="209" name="Google Shape;20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96575" y="647700"/>
            <a:ext cx="257175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15575" y="571500"/>
            <a:ext cx="13049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14550"/>
            <a:ext cx="11049000" cy="4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571500" y="115252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 Selection &amp; Exploration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571500" y="170497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71500" y="2722364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 started with a baseline model and progressed to advanced techniques, including Deep Learning, to capture hidden patterns in cultural sports specialization.</a:t>
            </a:r>
            <a:endParaRPr/>
          </a:p>
        </p:txBody>
      </p:sp>
      <p:pic>
        <p:nvPicPr>
          <p:cNvPr id="222" name="Google Shape;22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67975" y="647700"/>
            <a:ext cx="266700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63200" y="571500"/>
            <a:ext cx="12573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33650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571500" y="115252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New Olympic Leaderboard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71500" y="170497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15600" y="647700"/>
            <a:ext cx="2571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571500" y="2382738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measurable outcome: Using our XGBoost predictions, we isolated countries that vastly over-perform relative to their resources.</a:t>
            </a:r>
            <a:endParaRPr/>
          </a:p>
        </p:txBody>
      </p:sp>
      <p:pic>
        <p:nvPicPr>
          <p:cNvPr id="236" name="Google Shape;23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2533650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571500" y="3578721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Jamaica: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most efficient nation globally (Track &amp; Field specialization).</a:t>
            </a:r>
            <a:endParaRPr dirty="0"/>
          </a:p>
        </p:txBody>
      </p:sp>
      <p:sp>
        <p:nvSpPr>
          <p:cNvPr id="240" name="Google Shape;240;p21"/>
          <p:cNvSpPr txBox="1"/>
          <p:nvPr/>
        </p:nvSpPr>
        <p:spPr>
          <a:xfrm>
            <a:off x="571500" y="4391917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Kenya: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Massive outperformance in Long-Distance running.</a:t>
            </a:r>
            <a:endParaRPr dirty="0"/>
          </a:p>
        </p:txBody>
      </p:sp>
      <p:sp>
        <p:nvSpPr>
          <p:cNvPr id="242" name="Google Shape;242;p21"/>
          <p:cNvSpPr txBox="1"/>
          <p:nvPr/>
        </p:nvSpPr>
        <p:spPr>
          <a:xfrm>
            <a:off x="571500" y="5205114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USA/China: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 absolute medals, but average efficiency when adjusted for GDP.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6975" y="571500"/>
            <a:ext cx="15335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1949797"/>
            <a:ext cx="8572500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4535805" y="4245322"/>
            <a:ext cx="312039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You!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4071937" y="4980533"/>
            <a:ext cx="40481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Opening the floor for 2-minute Q&amp;A</a:t>
            </a:r>
            <a:endParaRPr/>
          </a:p>
        </p:txBody>
      </p:sp>
      <p:pic>
        <p:nvPicPr>
          <p:cNvPr id="254" name="Google Shape;25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39375" y="647700"/>
            <a:ext cx="2571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2000250" y="1854547"/>
            <a:ext cx="2190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1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571500" y="11239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571500" y="273754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571500" y="352231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571500" y="35127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571500" y="35127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71500" y="42975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571500" y="42975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869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1666875" y="288041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https://www.visualcapitalist.com/wp-content/uploads/2025/12/Top50EconomiesNC.webp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1666875" y="312613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www.visualcapitalist.com</a:t>
            </a:r>
            <a:endParaRPr/>
          </a:p>
        </p:txBody>
      </p:sp>
      <p:pic>
        <p:nvPicPr>
          <p:cNvPr id="272" name="Google Shape;27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717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1666875" y="366519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https://nebigdatahub.org/wp-content/uploads/2023/11/6-Scatterplots-2-1024x576.jpg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1666875" y="39109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nebigdatahub.org</a:t>
            </a:r>
            <a:endParaRPr/>
          </a:p>
        </p:txBody>
      </p:sp>
      <p:pic>
        <p:nvPicPr>
          <p:cNvPr id="275" name="Google Shape;27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565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 txBox="1"/>
          <p:nvPr/>
        </p:nvSpPr>
        <p:spPr>
          <a:xfrm>
            <a:off x="1666875" y="444996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https://www.panamsports.org/wp-content/uploads/2025/09/GettyImages-2235368725-scaled-e1757862130843.jpg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1666875" y="46956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www.panamsports.org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Microsoft Office PowerPoint</Application>
  <PresentationFormat>Widescreen</PresentationFormat>
  <Paragraphs>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DM Sans</vt:lpstr>
      <vt:lpstr>Arial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O'loughlin, Ryan</cp:lastModifiedBy>
  <cp:revision>1</cp:revision>
  <dcterms:modified xsi:type="dcterms:W3CDTF">2026-04-29T20:55:07Z</dcterms:modified>
</cp:coreProperties>
</file>